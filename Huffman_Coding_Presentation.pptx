
<file path=[Content_Types].xml><?xml version="1.0" encoding="utf-8"?>
<Types xmlns="http://schemas.openxmlformats.org/package/2006/content-types"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charts/chart1.xml" ContentType="application/vnd.openxmlformats-officedocument.drawingml.chart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0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213" d="100"/>
          <a:sy n="213" d="100"/>
        </p:scale>
        <p:origin x="156" y="15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title>
      <c:tx>
        <c:rich>
          <a:bodyPr/>
          <a:lstStyle/>
          <a:p>
            <a:pPr>
              <a:defRPr sz="1300" b="0" i="0" u="none" strike="noStrike">
                <a:solidFill>
                  <a:srgbClr val="0D1B2A"/>
                </a:solidFill>
                <a:latin typeface="Arial"/>
              </a:defRPr>
            </a:pPr>
            <a:r>
              <a:rPr sz="1300" b="0" i="0" u="none" strike="noStrike">
                <a:solidFill>
                  <a:srgbClr val="0D1B2A"/>
                </a:solidFill>
                <a:latin typeface="Arial"/>
              </a:rPr>
              <a:t>Encoded Bits by Method</a:t>
            </a:r>
          </a:p>
        </c:rich>
      </c:tx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Encoded Bits</c:v>
                </c:pt>
              </c:strCache>
            </c:strRef>
          </c:tx>
          <c:spPr>
            <a:solidFill>
              <a:srgbClr val="64748B"/>
            </a:solidFill>
            <a:effectLst/>
          </c:spPr>
          <c:invertIfNegative val="0"/>
          <c:dPt>
            <c:idx val="0"/>
            <c:invertIfNegative val="0"/>
            <c:bubble3D val="0"/>
            <c:extLst>
              <c:ext xmlns:c16="http://schemas.microsoft.com/office/drawing/2014/chart" uri="{C3380CC4-5D6E-409C-BE32-E72D297353CC}">
                <c16:uniqueId val="{00000001-29F4-4AF1-983B-33CBF8219192}"/>
              </c:ext>
            </c:extLst>
          </c:dPt>
          <c:dPt>
            <c:idx val="1"/>
            <c:invertIfNegative val="0"/>
            <c:bubble3D val="0"/>
            <c:spPr>
              <a:solidFill>
                <a:srgbClr val="028090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3-29F4-4AF1-983B-33CBF8219192}"/>
              </c:ext>
            </c:extLst>
          </c:dPt>
          <c:dPt>
            <c:idx val="2"/>
            <c:invertIfNegative val="0"/>
            <c:bubble3D val="0"/>
            <c:spPr>
              <a:solidFill>
                <a:srgbClr val="00A896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5-29F4-4AF1-983B-33CBF8219192}"/>
              </c:ext>
            </c:extLst>
          </c:dPt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200" b="0" i="0" u="none" strike="noStrike">
                    <a:solidFill>
                      <a:srgbClr val="0D1B2A"/>
                    </a:solidFill>
                    <a:latin typeface="Arial"/>
                  </a:defRPr>
                </a:pPr>
                <a:endParaRPr lang="mk-MK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Sheet1!$A$2:$A$4</c:f>
              <c:strCache>
                <c:ptCount val="3"/>
                <c:pt idx="0">
                  <c:v>No Compression</c:v>
                </c:pt>
                <c:pt idx="1">
                  <c:v>Single-Symbol Huffman</c:v>
                </c:pt>
                <c:pt idx="2">
                  <c:v>2-Symbol Block Huffman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324</c:v>
                </c:pt>
                <c:pt idx="1">
                  <c:v>233</c:v>
                </c:pt>
                <c:pt idx="2">
                  <c:v>226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6-29F4-4AF1-983B-33CBF8219192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150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D1B2A"/>
                </a:solidFill>
                <a:latin typeface="Arial"/>
              </a:defRPr>
            </a:pPr>
            <a:endParaRPr lang="mk-MK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E2E8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4748B"/>
                </a:solidFill>
                <a:latin typeface="Arial"/>
              </a:defRPr>
            </a:pPr>
            <a:endParaRPr lang="mk-MK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4237015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hyperlink" Target="https://github.com/brane100/huffman-with-fibonacci" TargetMode="External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.xml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56032" cy="5143500"/>
          </a:xfrm>
          <a:prstGeom prst="rect">
            <a:avLst/>
          </a:prstGeom>
          <a:solidFill>
            <a:srgbClr val="00A896"/>
          </a:solidFill>
          <a:ln w="12700">
            <a:solidFill>
              <a:srgbClr val="00A896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6858000" y="3474720"/>
            <a:ext cx="2560320" cy="1828800"/>
          </a:xfrm>
          <a:prstGeom prst="rect">
            <a:avLst/>
          </a:prstGeom>
          <a:solidFill>
            <a:srgbClr val="028090">
              <a:alpha val="15000"/>
            </a:srgbClr>
          </a:solidFill>
          <a:ln w="12700">
            <a:solidFill>
              <a:srgbClr val="028090">
                <a:alpha val="30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7315200" y="2926080"/>
            <a:ext cx="1828800" cy="731520"/>
          </a:xfrm>
          <a:prstGeom prst="rect">
            <a:avLst/>
          </a:prstGeom>
          <a:solidFill>
            <a:srgbClr val="00A896">
              <a:alpha val="20000"/>
            </a:srgbClr>
          </a:solidFill>
          <a:ln w="12700">
            <a:solidFill>
              <a:srgbClr val="00A896">
                <a:alpha val="3000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02920" y="457200"/>
            <a:ext cx="1097280" cy="347472"/>
          </a:xfrm>
          <a:prstGeom prst="rect">
            <a:avLst/>
          </a:prstGeom>
          <a:solidFill>
            <a:srgbClr val="00A896"/>
          </a:solidFill>
          <a:ln w="12700">
            <a:solidFill>
              <a:srgbClr val="00A896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02920" y="457200"/>
            <a:ext cx="10972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GROUP I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502920" y="1005840"/>
            <a:ext cx="832104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4800" b="1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Huffman Code</a:t>
            </a:r>
            <a:endParaRPr lang="en-US" sz="4800" dirty="0"/>
          </a:p>
        </p:txBody>
      </p:sp>
      <p:sp>
        <p:nvSpPr>
          <p:cNvPr id="8" name="Text 6"/>
          <p:cNvSpPr/>
          <p:nvPr/>
        </p:nvSpPr>
        <p:spPr>
          <a:xfrm>
            <a:off x="502920" y="1920240"/>
            <a:ext cx="83210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i="1" dirty="0">
                <a:solidFill>
                  <a:srgbClr val="00A89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with Fibonacci Numbers</a:t>
            </a:r>
            <a:endParaRPr lang="en-US" sz="2800" dirty="0"/>
          </a:p>
        </p:txBody>
      </p:sp>
      <p:sp>
        <p:nvSpPr>
          <p:cNvPr id="9" name="Shape 7"/>
          <p:cNvSpPr/>
          <p:nvPr/>
        </p:nvSpPr>
        <p:spPr>
          <a:xfrm>
            <a:off x="502920" y="2651760"/>
            <a:ext cx="7772400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02920" y="2834640"/>
            <a:ext cx="73152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F0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Branko Petrevski  ·  Luka Mišmaš</a:t>
            </a:r>
            <a:endParaRPr lang="en-US" sz="1600" dirty="0"/>
          </a:p>
          <a:p>
            <a:pPr marL="0" indent="0">
              <a:buNone/>
            </a:pPr>
            <a:r>
              <a:rPr lang="en-US" sz="13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Academic Year 2025 – 2026  |  TOR III Project Report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502920" y="466344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00A896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3"/>
              </a:rPr>
              <a:t>https://github.com/brane100/huffman-with-fibonacci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0F4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256032" cy="658368"/>
          </a:xfrm>
          <a:prstGeom prst="rect">
            <a:avLst/>
          </a:prstGeom>
          <a:solidFill>
            <a:srgbClr val="00A896"/>
          </a:solidFill>
          <a:ln w="12700">
            <a:solidFill>
              <a:srgbClr val="00A896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0"/>
            <a:ext cx="8229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Problem Statement &amp; Objectives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365760" y="822960"/>
            <a:ext cx="3840480" cy="393192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365760" y="822960"/>
            <a:ext cx="73152" cy="3931920"/>
          </a:xfrm>
          <a:prstGeom prst="rect">
            <a:avLst/>
          </a:prstGeom>
          <a:solidFill>
            <a:srgbClr val="00A896"/>
          </a:solidFill>
          <a:ln w="12700">
            <a:solidFill>
              <a:srgbClr val="00A896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48640" y="914400"/>
            <a:ext cx="34747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D1B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Given Alphabet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548640" y="1325880"/>
            <a:ext cx="34747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64748B"/>
                </a:solidFill>
              </a:rPr>
              <a:t>First 8 Fibonacci numbers (total: 54)</a:t>
            </a:r>
            <a:endParaRPr lang="en-US" sz="1300" dirty="0"/>
          </a:p>
          <a:p>
            <a:pPr marL="0" indent="0">
              <a:buNone/>
            </a:pPr>
            <a:r>
              <a:rPr lang="en-US" sz="600" dirty="0">
                <a:solidFill>
                  <a:srgbClr val="000000"/>
                </a:solidFill>
              </a:rPr>
              <a:t> </a:t>
            </a:r>
            <a:endParaRPr lang="en-US" sz="1300" dirty="0"/>
          </a:p>
          <a:p>
            <a:pPr marL="0" indent="0">
              <a:buNone/>
            </a:pPr>
            <a:r>
              <a:rPr lang="en-US" sz="1300" b="1" dirty="0">
                <a:solidFill>
                  <a:srgbClr val="0D1B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a:1  b:1  c:2  d:3</a:t>
            </a:r>
            <a:endParaRPr lang="en-US" sz="1300" dirty="0"/>
          </a:p>
          <a:p>
            <a:pPr marL="0" indent="0">
              <a:buNone/>
            </a:pPr>
            <a:r>
              <a:rPr lang="en-US" sz="1300" b="1" dirty="0">
                <a:solidFill>
                  <a:srgbClr val="0D1B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e:5  f:8  g:13  h:21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548640" y="2240280"/>
            <a:ext cx="3474720" cy="0"/>
          </a:xfrm>
          <a:prstGeom prst="line">
            <a:avLst/>
          </a:prstGeom>
          <a:noFill/>
          <a:ln w="6350">
            <a:solidFill>
              <a:srgbClr val="CBD5E1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48640" y="2331720"/>
            <a:ext cx="34747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D1B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Three Tasks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594360" y="2743200"/>
            <a:ext cx="3474720" cy="1737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0D1B2A"/>
                </a:solidFill>
              </a:rPr>
              <a:t>1. Build Huffman tree for 8-symbol Fibonacci alphabet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0D1B2A"/>
                </a:solidFill>
              </a:rPr>
              <a:t>2. Generate 108 symbols &amp; calculate compression ratio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0D1B2A"/>
                </a:solidFill>
              </a:rPr>
              <a:t>3. Encode 2-symbol blocks &amp; compare compression ratios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4572000" y="822960"/>
            <a:ext cx="4206240" cy="3931920"/>
          </a:xfrm>
          <a:prstGeom prst="rect">
            <a:avLst/>
          </a:prstGeom>
          <a:solidFill>
            <a:srgbClr val="0D1B2A"/>
          </a:solidFill>
          <a:ln/>
          <a:effectLst>
            <a:outerShdw blurRad="1016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4754880" y="960120"/>
            <a:ext cx="3840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0A89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is Huffman Coding?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4754880" y="1417320"/>
            <a:ext cx="3840480" cy="2286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0F4F8"/>
                </a:solidFill>
              </a:rPr>
              <a:t>Lossless data compression algorithm introduced by David A. Huffman in 1952.</a:t>
            </a:r>
            <a:endParaRPr lang="en-US" sz="1200" dirty="0"/>
          </a:p>
          <a:p>
            <a:pPr marL="0" indent="0">
              <a:buNone/>
            </a:pPr>
            <a:r>
              <a:rPr lang="en-US" sz="600" dirty="0">
                <a:solidFill>
                  <a:srgbClr val="000000"/>
                </a:solidFill>
              </a:rPr>
              <a:t> 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F0F4F8"/>
                </a:solidFill>
              </a:rPr>
              <a:t>Key idea: assign shorter codes to more frequent symbols, longer codes to rare ones.</a:t>
            </a:r>
            <a:endParaRPr lang="en-US" sz="1200" dirty="0"/>
          </a:p>
          <a:p>
            <a:pPr marL="0" indent="0">
              <a:buNone/>
            </a:pPr>
            <a:r>
              <a:rPr lang="en-US" sz="600" dirty="0">
                <a:solidFill>
                  <a:srgbClr val="000000"/>
                </a:solidFill>
              </a:rPr>
              <a:t> 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F0F4F8"/>
                </a:solidFill>
              </a:rPr>
              <a:t>Result: a prefix-free binary code that achieves near-optimal compression.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4754880" y="3749040"/>
            <a:ext cx="3840480" cy="777240"/>
          </a:xfrm>
          <a:prstGeom prst="rect">
            <a:avLst/>
          </a:prstGeom>
          <a:solidFill>
            <a:srgbClr val="00A896">
              <a:alpha val="80000"/>
            </a:srgbClr>
          </a:solidFill>
          <a:ln w="12700">
            <a:solidFill>
              <a:srgbClr val="00A896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846320" y="3794760"/>
            <a:ext cx="3657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Fibonacci frequencies create an extreme skew: 'h' appears 21× more often than 'a' or 'b', ideal for showcasing Huffman's power.</a:t>
            </a:r>
            <a:endParaRPr lang="en-US" sz="11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0F4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256032" cy="658368"/>
          </a:xfrm>
          <a:prstGeom prst="rect">
            <a:avLst/>
          </a:prstGeom>
          <a:solidFill>
            <a:srgbClr val="00A896"/>
          </a:solidFill>
          <a:ln w="12700">
            <a:solidFill>
              <a:srgbClr val="00A896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0"/>
            <a:ext cx="8229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Huffman Tree &amp; Symbol Codes</a:t>
            </a:r>
            <a:endParaRPr lang="en-US" sz="2000" dirty="0"/>
          </a:p>
        </p:txBody>
      </p:sp>
      <p:graphicFrame>
        <p:nvGraphicFramePr>
          <p:cNvPr id="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65760" y="822960"/>
          <a:ext cx="4572000" cy="4023360"/>
        </p:xfrm>
        <a:graphic>
          <a:graphicData uri="http://schemas.openxmlformats.org/drawingml/2006/table">
            <a:tbl>
              <a:tblPr/>
              <a:tblGrid>
                <a:gridCol w="8229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09728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46304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18872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44704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</a:rPr>
                        <a:t>Symbol</a:t>
                      </a:r>
                      <a:endParaRPr lang="en-US" sz="1300" dirty="0"/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B2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</a:rPr>
                        <a:t>Frequency</a:t>
                      </a:r>
                      <a:endParaRPr lang="en-US" sz="1300" dirty="0"/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B2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Huffman Code</a:t>
                      </a:r>
                      <a:endParaRPr lang="en-US" sz="13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B2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</a:rPr>
                        <a:t>Code Length</a:t>
                      </a:r>
                      <a:endParaRPr lang="en-US" sz="1300" dirty="0"/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B2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4704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028090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h</a:t>
                      </a:r>
                      <a:endParaRPr lang="en-US" sz="12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0D1B2A"/>
                          </a:solidFill>
                        </a:rPr>
                        <a:t>21</a:t>
                      </a:r>
                      <a:endParaRPr lang="en-US" sz="1200" dirty="0"/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028090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0</a:t>
                      </a:r>
                      <a:endParaRPr lang="en-US" sz="12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0D1B2A"/>
                          </a:solidFill>
                        </a:rPr>
                        <a:t>1 bit</a:t>
                      </a:r>
                      <a:endParaRPr lang="en-US" sz="1200" dirty="0"/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4704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0D1B2A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g</a:t>
                      </a:r>
                      <a:endParaRPr lang="en-US" sz="12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4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0D1B2A"/>
                          </a:solidFill>
                        </a:rPr>
                        <a:t>13</a:t>
                      </a:r>
                      <a:endParaRPr lang="en-US" sz="1200" dirty="0"/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4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0D1B2A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10</a:t>
                      </a:r>
                      <a:endParaRPr lang="en-US" sz="12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4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0D1B2A"/>
                          </a:solidFill>
                        </a:rPr>
                        <a:t>2 bits</a:t>
                      </a:r>
                      <a:endParaRPr lang="en-US" sz="1200" dirty="0"/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4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4704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0D1B2A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f</a:t>
                      </a:r>
                      <a:endParaRPr lang="en-US" sz="12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0D1B2A"/>
                          </a:solidFill>
                        </a:rPr>
                        <a:t>8</a:t>
                      </a:r>
                      <a:endParaRPr lang="en-US" sz="1200" dirty="0"/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0D1B2A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110</a:t>
                      </a:r>
                      <a:endParaRPr lang="en-US" sz="12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0D1B2A"/>
                          </a:solidFill>
                        </a:rPr>
                        <a:t>3 bits</a:t>
                      </a:r>
                      <a:endParaRPr lang="en-US" sz="1200" dirty="0"/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4704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0D1B2A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e</a:t>
                      </a:r>
                      <a:endParaRPr lang="en-US" sz="12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4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0D1B2A"/>
                          </a:solidFill>
                        </a:rPr>
                        <a:t>5</a:t>
                      </a:r>
                      <a:endParaRPr lang="en-US" sz="1200" dirty="0"/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4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0D1B2A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1110</a:t>
                      </a:r>
                      <a:endParaRPr lang="en-US" sz="12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4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0D1B2A"/>
                          </a:solidFill>
                        </a:rPr>
                        <a:t>4 bits</a:t>
                      </a:r>
                      <a:endParaRPr lang="en-US" sz="1200" dirty="0"/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4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4704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0D1B2A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d</a:t>
                      </a:r>
                      <a:endParaRPr lang="en-US" sz="12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0D1B2A"/>
                          </a:solidFill>
                        </a:rPr>
                        <a:t>3</a:t>
                      </a:r>
                      <a:endParaRPr lang="en-US" sz="1200" dirty="0"/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0D1B2A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11110</a:t>
                      </a:r>
                      <a:endParaRPr lang="en-US" sz="12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0D1B2A"/>
                          </a:solidFill>
                        </a:rPr>
                        <a:t>5 bits</a:t>
                      </a:r>
                      <a:endParaRPr lang="en-US" sz="1200" dirty="0"/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4704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0D1B2A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c</a:t>
                      </a:r>
                      <a:endParaRPr lang="en-US" sz="12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4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0D1B2A"/>
                          </a:solidFill>
                        </a:rPr>
                        <a:t>2</a:t>
                      </a:r>
                      <a:endParaRPr lang="en-US" sz="1200" dirty="0"/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4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0D1B2A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111110</a:t>
                      </a:r>
                      <a:endParaRPr lang="en-US" sz="12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4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0D1B2A"/>
                          </a:solidFill>
                        </a:rPr>
                        <a:t>6 bits</a:t>
                      </a:r>
                      <a:endParaRPr lang="en-US" sz="1200" dirty="0"/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4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44704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0D1B2A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b</a:t>
                      </a:r>
                      <a:endParaRPr lang="en-US" sz="12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0D1B2A"/>
                          </a:solidFill>
                        </a:rPr>
                        <a:t>1</a:t>
                      </a:r>
                      <a:endParaRPr lang="en-US" sz="1200" dirty="0"/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0D1B2A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1111110</a:t>
                      </a:r>
                      <a:endParaRPr lang="en-US" sz="12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0D1B2A"/>
                          </a:solidFill>
                        </a:rPr>
                        <a:t>7 bits</a:t>
                      </a:r>
                      <a:endParaRPr lang="en-US" sz="1200" dirty="0"/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44704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0D1B2A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a</a:t>
                      </a:r>
                      <a:endParaRPr lang="en-US" sz="12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4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0D1B2A"/>
                          </a:solidFill>
                        </a:rPr>
                        <a:t>1</a:t>
                      </a:r>
                      <a:endParaRPr lang="en-US" sz="1200" dirty="0"/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4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0D1B2A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1111111</a:t>
                      </a:r>
                      <a:endParaRPr lang="en-US" sz="12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4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0D1B2A"/>
                          </a:solidFill>
                        </a:rPr>
                        <a:t>7 bits</a:t>
                      </a:r>
                      <a:endParaRPr lang="en-US" sz="1200" dirty="0"/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4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</a:tbl>
          </a:graphicData>
        </a:graphic>
      </p:graphicFrame>
      <p:sp>
        <p:nvSpPr>
          <p:cNvPr id="6" name="Shape 3"/>
          <p:cNvSpPr/>
          <p:nvPr/>
        </p:nvSpPr>
        <p:spPr>
          <a:xfrm>
            <a:off x="5166360" y="822960"/>
            <a:ext cx="3566160" cy="1920240"/>
          </a:xfrm>
          <a:prstGeom prst="rect">
            <a:avLst/>
          </a:prstGeom>
          <a:solidFill>
            <a:srgbClr val="0D1B2A"/>
          </a:solidFill>
          <a:ln/>
          <a:effectLst>
            <a:outerShdw blurRad="1016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7" name="Text 4"/>
          <p:cNvSpPr/>
          <p:nvPr/>
        </p:nvSpPr>
        <p:spPr>
          <a:xfrm>
            <a:off x="5349240" y="914400"/>
            <a:ext cx="3200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0A89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Tree Construction</a:t>
            </a:r>
            <a:endParaRPr lang="en-US" sz="1300" dirty="0"/>
          </a:p>
        </p:txBody>
      </p:sp>
      <p:sp>
        <p:nvSpPr>
          <p:cNvPr id="8" name="Text 5"/>
          <p:cNvSpPr/>
          <p:nvPr/>
        </p:nvSpPr>
        <p:spPr>
          <a:xfrm>
            <a:off x="5349240" y="1280160"/>
            <a:ext cx="320040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F0F4F8"/>
                </a:solidFill>
              </a:rPr>
              <a:t>1. Place all symbols in a min-heap ordered by frequency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F0F4F8"/>
                </a:solidFill>
              </a:rPr>
              <a:t>2. Repeatedly merge the two lowest-frequency nodes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F0F4F8"/>
                </a:solidFill>
              </a:rPr>
              <a:t>3. Left branch → '0', Right branch → '1'</a:t>
            </a:r>
            <a:endParaRPr lang="en-US" sz="1100" dirty="0"/>
          </a:p>
        </p:txBody>
      </p:sp>
      <p:sp>
        <p:nvSpPr>
          <p:cNvPr id="9" name="Shape 6"/>
          <p:cNvSpPr/>
          <p:nvPr/>
        </p:nvSpPr>
        <p:spPr>
          <a:xfrm>
            <a:off x="5166360" y="2880360"/>
            <a:ext cx="3566160" cy="1920240"/>
          </a:xfrm>
          <a:prstGeom prst="rect">
            <a:avLst/>
          </a:prstGeom>
          <a:solidFill>
            <a:srgbClr val="FFFFFF"/>
          </a:solidFill>
          <a:ln/>
          <a:effectLst>
            <a:outerShdw blurRad="762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5166360" y="2880360"/>
            <a:ext cx="73152" cy="192024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5349240" y="2971800"/>
            <a:ext cx="3200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D1B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Key Observation</a:t>
            </a:r>
            <a:endParaRPr lang="en-US" sz="1300" dirty="0"/>
          </a:p>
        </p:txBody>
      </p:sp>
      <p:sp>
        <p:nvSpPr>
          <p:cNvPr id="12" name="Text 9"/>
          <p:cNvSpPr/>
          <p:nvPr/>
        </p:nvSpPr>
        <p:spPr>
          <a:xfrm>
            <a:off x="5349240" y="3337560"/>
            <a:ext cx="3108960" cy="1325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Fibonacci distribution creates a maximally unbalanced (right-skewed) Huffman tree. Each level adds exactly one '1' bit, resulting in a linear chain of codes.</a:t>
            </a:r>
            <a:endParaRPr lang="en-US" sz="11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0F4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256032" cy="658368"/>
          </a:xfrm>
          <a:prstGeom prst="rect">
            <a:avLst/>
          </a:prstGeom>
          <a:solidFill>
            <a:srgbClr val="00A896"/>
          </a:solidFill>
          <a:ln w="12700">
            <a:solidFill>
              <a:srgbClr val="00A896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0"/>
            <a:ext cx="8229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Dataset Generation &amp; Single-Symbol Encoding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365760" y="822960"/>
            <a:ext cx="4023360" cy="3931920"/>
          </a:xfrm>
          <a:prstGeom prst="rect">
            <a:avLst/>
          </a:prstGeom>
          <a:solidFill>
            <a:srgbClr val="FFFFFF"/>
          </a:solidFill>
          <a:ln/>
          <a:effectLst>
            <a:outerShdw blurRad="762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365760" y="822960"/>
            <a:ext cx="73152" cy="3931920"/>
          </a:xfrm>
          <a:prstGeom prst="rect">
            <a:avLst/>
          </a:prstGeom>
          <a:solidFill>
            <a:srgbClr val="00A896"/>
          </a:solidFill>
          <a:ln w="12700">
            <a:solidFill>
              <a:srgbClr val="00A896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48640" y="914400"/>
            <a:ext cx="36576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D1B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Weighted Random Generation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548640" y="1325880"/>
            <a:ext cx="365760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64748B"/>
                </a:solidFill>
              </a:rPr>
              <a:t>108 symbols are generated using weighted random selection matching the Fibonacci frequency distribution.</a:t>
            </a:r>
            <a:endParaRPr lang="en-US" sz="1200" dirty="0"/>
          </a:p>
          <a:p>
            <a:pPr marL="0" indent="0">
              <a:buNone/>
            </a:pPr>
            <a:r>
              <a:rPr lang="en-US" sz="600" dirty="0">
                <a:solidFill>
                  <a:srgbClr val="000000"/>
                </a:solidFill>
              </a:rPr>
              <a:t> </a:t>
            </a:r>
            <a:endParaRPr lang="en-US" sz="1200" dirty="0"/>
          </a:p>
          <a:p>
            <a:pPr marL="0" indent="0">
              <a:buNone/>
            </a:pPr>
            <a:r>
              <a:rPr lang="en-US" sz="1200" b="1" dirty="0">
                <a:solidFill>
                  <a:srgbClr val="0D1B2A"/>
                </a:solidFill>
              </a:rPr>
              <a:t>Each symbol's probability = freq / 54</a:t>
            </a:r>
            <a:endParaRPr lang="en-US" sz="1200" dirty="0"/>
          </a:p>
          <a:p>
            <a:pPr marL="0" indent="0">
              <a:buNone/>
            </a:pPr>
            <a:r>
              <a:rPr lang="en-US" sz="600" dirty="0">
                <a:solidFill>
                  <a:srgbClr val="000000"/>
                </a:solidFill>
              </a:rPr>
              <a:t> </a:t>
            </a:r>
            <a:endParaRPr lang="en-US" sz="1200" dirty="0"/>
          </a:p>
          <a:p>
            <a:pPr marL="0" indent="0">
              <a:buNone/>
            </a:pPr>
            <a:r>
              <a:rPr lang="en-US" sz="1200" i="1" dirty="0">
                <a:solidFill>
                  <a:srgbClr val="64748B"/>
                </a:solidFill>
              </a:rPr>
              <a:t>Expected counts over 108 symbols:</a:t>
            </a:r>
            <a:endParaRPr lang="en-US" sz="1200" dirty="0"/>
          </a:p>
        </p:txBody>
      </p:sp>
      <p:graphicFrame>
        <p:nvGraphicFramePr>
          <p:cNvPr id="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3246120"/>
          <a:ext cx="3657600" cy="1280160"/>
        </p:xfrm>
        <a:graphic>
          <a:graphicData uri="http://schemas.openxmlformats.org/drawingml/2006/table">
            <a:tbl>
              <a:tblPr/>
              <a:tblGrid>
                <a:gridCol w="10058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18872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46304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25603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0D1B2A"/>
                          </a:solidFill>
                        </a:rPr>
                        <a:t>Symbol</a:t>
                      </a:r>
                      <a:endParaRPr lang="en-US" sz="1100" dirty="0"/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4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0D1B2A"/>
                          </a:solidFill>
                        </a:rPr>
                        <a:t>Expected</a:t>
                      </a:r>
                      <a:endParaRPr lang="en-US" sz="1100" dirty="0"/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4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0D1B2A"/>
                          </a:solidFill>
                        </a:rPr>
                        <a:t>p(x)</a:t>
                      </a:r>
                      <a:endParaRPr lang="en-US" sz="1100" dirty="0"/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4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5603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h</a:t>
                      </a:r>
                      <a:endParaRPr lang="en-US" sz="11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</a:rPr>
                        <a:t>~42</a:t>
                      </a:r>
                      <a:endParaRPr lang="en-US" sz="1100" dirty="0"/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</a:rPr>
                        <a:t>0.389</a:t>
                      </a:r>
                      <a:endParaRPr lang="en-US" sz="1100" dirty="0"/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5603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g</a:t>
                      </a:r>
                      <a:endParaRPr lang="en-US" sz="11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</a:rPr>
                        <a:t>~26</a:t>
                      </a:r>
                      <a:endParaRPr lang="en-US" sz="1100" dirty="0"/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</a:rPr>
                        <a:t>0.241</a:t>
                      </a:r>
                      <a:endParaRPr lang="en-US" sz="1100" dirty="0"/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5603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f</a:t>
                      </a:r>
                      <a:endParaRPr lang="en-US" sz="11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</a:rPr>
                        <a:t>~16</a:t>
                      </a:r>
                      <a:endParaRPr lang="en-US" sz="1100" dirty="0"/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</a:rPr>
                        <a:t>0.148</a:t>
                      </a:r>
                      <a:endParaRPr lang="en-US" sz="1100" dirty="0"/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5603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a–e</a:t>
                      </a:r>
                      <a:endParaRPr lang="en-US" sz="11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</a:rPr>
                        <a:t>~24</a:t>
                      </a:r>
                      <a:endParaRPr lang="en-US" sz="1100" dirty="0"/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</a:rPr>
                        <a:t>0.222</a:t>
                      </a:r>
                      <a:endParaRPr lang="en-US" sz="1100" dirty="0"/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10" name="Shape 7"/>
          <p:cNvSpPr/>
          <p:nvPr/>
        </p:nvSpPr>
        <p:spPr>
          <a:xfrm>
            <a:off x="4663440" y="822960"/>
            <a:ext cx="4114800" cy="1874520"/>
          </a:xfrm>
          <a:prstGeom prst="rect">
            <a:avLst/>
          </a:prstGeom>
          <a:solidFill>
            <a:srgbClr val="0D1B2A"/>
          </a:solidFill>
          <a:ln/>
          <a:effectLst>
            <a:outerShdw blurRad="762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1" name="Text 8"/>
          <p:cNvSpPr/>
          <p:nvPr/>
        </p:nvSpPr>
        <p:spPr>
          <a:xfrm>
            <a:off x="4846320" y="914400"/>
            <a:ext cx="3749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0A89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Encoding Process</a:t>
            </a:r>
            <a:endParaRPr lang="en-US" sz="1300" dirty="0"/>
          </a:p>
        </p:txBody>
      </p:sp>
      <p:sp>
        <p:nvSpPr>
          <p:cNvPr id="12" name="Text 9"/>
          <p:cNvSpPr/>
          <p:nvPr/>
        </p:nvSpPr>
        <p:spPr>
          <a:xfrm>
            <a:off x="4846320" y="1298448"/>
            <a:ext cx="374904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F0F4F8"/>
                </a:solidFill>
              </a:rPr>
              <a:t>1. Look up Huffman code for each symbol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F0F4F8"/>
                </a:solidFill>
              </a:rPr>
              <a:t>2. Concatenate codes into one bitstring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F0F4F8"/>
                </a:solidFill>
              </a:rPr>
              <a:t>3. Decode by traversing tree bit-by-bit</a:t>
            </a:r>
            <a:endParaRPr lang="en-US" sz="1100" dirty="0"/>
          </a:p>
        </p:txBody>
      </p:sp>
      <p:sp>
        <p:nvSpPr>
          <p:cNvPr id="13" name="Shape 10"/>
          <p:cNvSpPr/>
          <p:nvPr/>
        </p:nvSpPr>
        <p:spPr>
          <a:xfrm>
            <a:off x="4663440" y="2834640"/>
            <a:ext cx="1920240" cy="749808"/>
          </a:xfrm>
          <a:prstGeom prst="rect">
            <a:avLst/>
          </a:prstGeom>
          <a:solidFill>
            <a:srgbClr val="FFFFFF"/>
          </a:solidFill>
          <a:ln/>
          <a:effectLst>
            <a:outerShdw blurRad="762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14" name="Text 11"/>
          <p:cNvSpPr/>
          <p:nvPr/>
        </p:nvSpPr>
        <p:spPr>
          <a:xfrm>
            <a:off x="4663440" y="2862072"/>
            <a:ext cx="1920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0D1B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108</a:t>
            </a:r>
            <a:endParaRPr lang="en-US" sz="2200" dirty="0"/>
          </a:p>
        </p:txBody>
      </p:sp>
      <p:sp>
        <p:nvSpPr>
          <p:cNvPr id="15" name="Text 12"/>
          <p:cNvSpPr/>
          <p:nvPr/>
        </p:nvSpPr>
        <p:spPr>
          <a:xfrm>
            <a:off x="4663440" y="3273552"/>
            <a:ext cx="1920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Symbols</a:t>
            </a:r>
            <a:endParaRPr lang="en-US" sz="1000" dirty="0"/>
          </a:p>
        </p:txBody>
      </p:sp>
      <p:sp>
        <p:nvSpPr>
          <p:cNvPr id="16" name="Shape 13"/>
          <p:cNvSpPr/>
          <p:nvPr/>
        </p:nvSpPr>
        <p:spPr>
          <a:xfrm>
            <a:off x="6766560" y="2834640"/>
            <a:ext cx="1920240" cy="749808"/>
          </a:xfrm>
          <a:prstGeom prst="rect">
            <a:avLst/>
          </a:prstGeom>
          <a:solidFill>
            <a:srgbClr val="FFFFFF"/>
          </a:solidFill>
          <a:ln/>
          <a:effectLst>
            <a:outerShdw blurRad="762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17" name="Text 14"/>
          <p:cNvSpPr/>
          <p:nvPr/>
        </p:nvSpPr>
        <p:spPr>
          <a:xfrm>
            <a:off x="6766560" y="2862072"/>
            <a:ext cx="1920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0D1B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324 bits</a:t>
            </a:r>
            <a:endParaRPr lang="en-US" sz="2200" dirty="0"/>
          </a:p>
        </p:txBody>
      </p:sp>
      <p:sp>
        <p:nvSpPr>
          <p:cNvPr id="18" name="Text 15"/>
          <p:cNvSpPr/>
          <p:nvPr/>
        </p:nvSpPr>
        <p:spPr>
          <a:xfrm>
            <a:off x="6766560" y="3273552"/>
            <a:ext cx="1920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Uncoded (3 bits/sym)</a:t>
            </a:r>
            <a:endParaRPr lang="en-US" sz="1000" dirty="0"/>
          </a:p>
        </p:txBody>
      </p:sp>
      <p:sp>
        <p:nvSpPr>
          <p:cNvPr id="19" name="Shape 16"/>
          <p:cNvSpPr/>
          <p:nvPr/>
        </p:nvSpPr>
        <p:spPr>
          <a:xfrm>
            <a:off x="4663440" y="3749040"/>
            <a:ext cx="1920240" cy="749808"/>
          </a:xfrm>
          <a:prstGeom prst="rect">
            <a:avLst/>
          </a:prstGeom>
          <a:solidFill>
            <a:srgbClr val="FFFFFF"/>
          </a:solidFill>
          <a:ln/>
          <a:effectLst>
            <a:outerShdw blurRad="762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20" name="Text 17"/>
          <p:cNvSpPr/>
          <p:nvPr/>
        </p:nvSpPr>
        <p:spPr>
          <a:xfrm>
            <a:off x="4663440" y="3776472"/>
            <a:ext cx="1920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0D1B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233 bits</a:t>
            </a:r>
            <a:endParaRPr lang="en-US" sz="2200" dirty="0"/>
          </a:p>
        </p:txBody>
      </p:sp>
      <p:sp>
        <p:nvSpPr>
          <p:cNvPr id="21" name="Text 18"/>
          <p:cNvSpPr/>
          <p:nvPr/>
        </p:nvSpPr>
        <p:spPr>
          <a:xfrm>
            <a:off x="4663440" y="4187952"/>
            <a:ext cx="1920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Encoded Length</a:t>
            </a:r>
            <a:endParaRPr lang="en-US" sz="1000" dirty="0"/>
          </a:p>
        </p:txBody>
      </p:sp>
      <p:sp>
        <p:nvSpPr>
          <p:cNvPr id="22" name="Shape 19"/>
          <p:cNvSpPr/>
          <p:nvPr/>
        </p:nvSpPr>
        <p:spPr>
          <a:xfrm>
            <a:off x="6766560" y="3749040"/>
            <a:ext cx="1920240" cy="749808"/>
          </a:xfrm>
          <a:prstGeom prst="rect">
            <a:avLst/>
          </a:prstGeom>
          <a:solidFill>
            <a:srgbClr val="00A896"/>
          </a:solidFill>
          <a:ln/>
          <a:effectLst>
            <a:outerShdw blurRad="762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23" name="Text 20"/>
          <p:cNvSpPr/>
          <p:nvPr/>
        </p:nvSpPr>
        <p:spPr>
          <a:xfrm>
            <a:off x="6766560" y="3776472"/>
            <a:ext cx="1920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≈ 1.39</a:t>
            </a:r>
            <a:endParaRPr lang="en-US" sz="2200" dirty="0"/>
          </a:p>
        </p:txBody>
      </p:sp>
      <p:sp>
        <p:nvSpPr>
          <p:cNvPr id="24" name="Text 21"/>
          <p:cNvSpPr/>
          <p:nvPr/>
        </p:nvSpPr>
        <p:spPr>
          <a:xfrm>
            <a:off x="6766560" y="4187952"/>
            <a:ext cx="1920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D1FA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Compression Ratio</a:t>
            </a:r>
            <a:endParaRPr lang="en-US" sz="1000" dirty="0"/>
          </a:p>
        </p:txBody>
      </p:sp>
      <p:sp>
        <p:nvSpPr>
          <p:cNvPr id="25" name="Text 22"/>
          <p:cNvSpPr/>
          <p:nvPr/>
        </p:nvSpPr>
        <p:spPr>
          <a:xfrm>
            <a:off x="4663440" y="4709160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Space saving: ≈ 28.1%</a:t>
            </a:r>
            <a:endParaRPr lang="en-US" sz="1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0F4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256032" cy="658368"/>
          </a:xfrm>
          <a:prstGeom prst="rect">
            <a:avLst/>
          </a:prstGeom>
          <a:solidFill>
            <a:srgbClr val="00A896"/>
          </a:solidFill>
          <a:ln w="12700">
            <a:solidFill>
              <a:srgbClr val="00A896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0"/>
            <a:ext cx="8229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Block Encoding: 2-Symbol Pairs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365760" y="822960"/>
            <a:ext cx="3931920" cy="3931920"/>
          </a:xfrm>
          <a:prstGeom prst="rect">
            <a:avLst/>
          </a:prstGeom>
          <a:solidFill>
            <a:srgbClr val="FFFFFF"/>
          </a:solidFill>
          <a:ln/>
          <a:effectLst>
            <a:outerShdw blurRad="762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365760" y="822960"/>
            <a:ext cx="73152" cy="393192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48640" y="914400"/>
            <a:ext cx="35661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D1B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How Block Encoding Works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548640" y="1325880"/>
            <a:ext cx="3566160" cy="3200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64748B"/>
                </a:solidFill>
              </a:rPr>
              <a:t>Instead of encoding each symbol individually, we group consecutive symbols into blocks of 2.</a:t>
            </a:r>
            <a:endParaRPr lang="en-US" sz="1200" dirty="0"/>
          </a:p>
          <a:p>
            <a:pPr marL="0" indent="0">
              <a:buNone/>
            </a:pPr>
            <a:r>
              <a:rPr lang="en-US" sz="600" dirty="0">
                <a:solidFill>
                  <a:srgbClr val="000000"/>
                </a:solidFill>
              </a:rPr>
              <a:t> </a:t>
            </a:r>
            <a:endParaRPr lang="en-US" sz="1200" dirty="0"/>
          </a:p>
          <a:p>
            <a:pPr marL="0" indent="0">
              <a:buNone/>
            </a:pPr>
            <a:r>
              <a:rPr lang="en-US" sz="1300" b="1" dirty="0">
                <a:solidFill>
                  <a:srgbClr val="0D1B2A"/>
                </a:solidFill>
              </a:rPr>
              <a:t>108 symbols → 54 blocks</a:t>
            </a:r>
            <a:endParaRPr lang="en-US" sz="1200" dirty="0"/>
          </a:p>
          <a:p>
            <a:pPr marL="0" indent="0">
              <a:buNone/>
            </a:pPr>
            <a:r>
              <a:rPr lang="en-US" sz="600" dirty="0">
                <a:solidFill>
                  <a:srgbClr val="000000"/>
                </a:solidFill>
              </a:rPr>
              <a:t> 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64748B"/>
                </a:solidFill>
              </a:rPr>
              <a:t>A new Huffman tree is built over the joint frequency distribution of all 2-symbol combinations (up to 64 possible blocks).</a:t>
            </a:r>
            <a:endParaRPr lang="en-US" sz="1200" dirty="0"/>
          </a:p>
          <a:p>
            <a:pPr marL="0" indent="0">
              <a:buNone/>
            </a:pPr>
            <a:r>
              <a:rPr lang="en-US" sz="600" dirty="0">
                <a:solidFill>
                  <a:srgbClr val="000000"/>
                </a:solidFill>
              </a:rPr>
              <a:t> </a:t>
            </a:r>
            <a:endParaRPr lang="en-US" sz="1200" dirty="0"/>
          </a:p>
          <a:p>
            <a:pPr marL="0" indent="0">
              <a:buNone/>
            </a:pPr>
            <a:r>
              <a:rPr lang="en-US" sz="1200" b="1" dirty="0">
                <a:solidFill>
                  <a:srgbClr val="0D1B2A"/>
                </a:solidFill>
              </a:rPr>
              <a:t>Why it helps: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64748B"/>
                </a:solidFill>
              </a:rPr>
              <a:t>Joint statistics capture inter-symbol correlations, reducing redundancy more effectively than single-symbol encoding.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4572000" y="822960"/>
            <a:ext cx="4206240" cy="1737360"/>
          </a:xfrm>
          <a:prstGeom prst="rect">
            <a:avLst/>
          </a:prstGeom>
          <a:solidFill>
            <a:srgbClr val="0D1B2A"/>
          </a:solidFill>
          <a:ln/>
          <a:effectLst>
            <a:outerShdw blurRad="762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4754880" y="914400"/>
            <a:ext cx="3840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59E0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Block Encoding Results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4754880" y="1298448"/>
            <a:ext cx="384048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0F4F8"/>
                </a:solidFill>
              </a:rPr>
              <a:t>54 blocks  |  Uncoded: 324 bits (6 bits/block)</a:t>
            </a:r>
            <a:endParaRPr lang="en-US" sz="1200" dirty="0"/>
          </a:p>
          <a:p>
            <a:pPr marL="0" indent="0">
              <a:buNone/>
            </a:pPr>
            <a:r>
              <a:rPr lang="en-US" sz="1300" b="1" dirty="0">
                <a:solidFill>
                  <a:srgbClr val="F59E0B"/>
                </a:solidFill>
              </a:rPr>
              <a:t>Encoded: 226 bits  |  Ratio: ≈ 1.43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00A896"/>
                </a:solidFill>
              </a:rPr>
              <a:t>Space saving: ≈ 30.2%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4572000" y="2743200"/>
            <a:ext cx="4206240" cy="2011680"/>
          </a:xfrm>
          <a:prstGeom prst="rect">
            <a:avLst/>
          </a:prstGeom>
          <a:solidFill>
            <a:srgbClr val="FFFFFF"/>
          </a:solidFill>
          <a:ln/>
          <a:effectLst>
            <a:outerShdw blurRad="762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4572000" y="2743200"/>
            <a:ext cx="73152" cy="201168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754880" y="2834640"/>
            <a:ext cx="3749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D1B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Tradeoff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4754880" y="3200400"/>
            <a:ext cx="374904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D1B2A"/>
                </a:solidFill>
              </a:rPr>
              <a:t>Benefit: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64748B"/>
                </a:solidFill>
              </a:rPr>
              <a:t>Better compression (1.43 vs 1.39)</a:t>
            </a:r>
            <a:endParaRPr lang="en-US" sz="1200" dirty="0"/>
          </a:p>
          <a:p>
            <a:pPr marL="0" indent="0">
              <a:buNone/>
            </a:pPr>
            <a:r>
              <a:rPr lang="en-US" sz="600" dirty="0">
                <a:solidFill>
                  <a:srgbClr val="000000"/>
                </a:solidFill>
              </a:rPr>
              <a:t> </a:t>
            </a:r>
            <a:endParaRPr lang="en-US" sz="1200" dirty="0"/>
          </a:p>
          <a:p>
            <a:pPr marL="0" indent="0">
              <a:buNone/>
            </a:pPr>
            <a:r>
              <a:rPr lang="en-US" sz="1200" b="1" dirty="0">
                <a:solidFill>
                  <a:srgbClr val="0D1B2A"/>
                </a:solidFill>
              </a:rPr>
              <a:t>Cost: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64748B"/>
                </a:solidFill>
              </a:rPr>
              <a:t>Codebook grows from 8 to up to 64 entries; more memory and complexity.</a:t>
            </a:r>
            <a:endParaRPr lang="en-US" sz="12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0F4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256032" cy="658368"/>
          </a:xfrm>
          <a:prstGeom prst="rect">
            <a:avLst/>
          </a:prstGeom>
          <a:solidFill>
            <a:srgbClr val="00A896"/>
          </a:solidFill>
          <a:ln w="12700">
            <a:solidFill>
              <a:srgbClr val="00A896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0"/>
            <a:ext cx="8229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Compression Results Comparison</a:t>
            </a:r>
            <a:endParaRPr lang="en-US" sz="2000" dirty="0"/>
          </a:p>
        </p:txBody>
      </p:sp>
      <p:graphicFrame>
        <p:nvGraphicFramePr>
          <p:cNvPr id="5" name="Chart 0"/>
          <p:cNvGraphicFramePr/>
          <p:nvPr/>
        </p:nvGraphicFramePr>
        <p:xfrm>
          <a:off x="365760" y="822960"/>
          <a:ext cx="5029200" cy="393192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graphicFrame>
        <p:nvGraphicFramePr>
          <p:cNvPr id="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577840" y="822960"/>
          <a:ext cx="3200400" cy="1828800"/>
        </p:xfrm>
        <a:graphic>
          <a:graphicData uri="http://schemas.openxmlformats.org/drawingml/2006/table">
            <a:tbl>
              <a:tblPr/>
              <a:tblGrid>
                <a:gridCol w="12801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9436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9436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73152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45720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Method</a:t>
                      </a:r>
                      <a:endParaRPr lang="en-US" sz="1200" dirty="0"/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B2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Bits</a:t>
                      </a:r>
                      <a:endParaRPr lang="en-US" sz="1200" dirty="0"/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B2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Ratio</a:t>
                      </a:r>
                      <a:endParaRPr lang="en-US" sz="1200" dirty="0"/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B2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Saving</a:t>
                      </a:r>
                      <a:endParaRPr lang="en-US" sz="1200" dirty="0"/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B2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0D1B2A"/>
                          </a:solidFill>
                        </a:rPr>
                        <a:t>No Compression</a:t>
                      </a:r>
                      <a:endParaRPr lang="en-US" sz="1200" dirty="0"/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0D1B2A"/>
                          </a:solidFill>
                        </a:rPr>
                        <a:t>324</a:t>
                      </a:r>
                      <a:endParaRPr lang="en-US" sz="1200" dirty="0"/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0D1B2A"/>
                          </a:solidFill>
                        </a:rPr>
                        <a:t>1.00</a:t>
                      </a:r>
                      <a:endParaRPr lang="en-US" sz="1200" dirty="0"/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0D1B2A"/>
                          </a:solidFill>
                        </a:rPr>
                        <a:t>0%</a:t>
                      </a:r>
                      <a:endParaRPr lang="en-US" sz="1200" dirty="0"/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0D1B2A"/>
                          </a:solidFill>
                        </a:rPr>
                        <a:t>Single-Symbol</a:t>
                      </a:r>
                      <a:endParaRPr lang="en-US" sz="1200" dirty="0"/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4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0D1B2A"/>
                          </a:solidFill>
                        </a:rPr>
                        <a:t>233</a:t>
                      </a:r>
                      <a:endParaRPr lang="en-US" sz="1200" dirty="0"/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4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0D1B2A"/>
                          </a:solidFill>
                        </a:rPr>
                        <a:t>1.39</a:t>
                      </a:r>
                      <a:endParaRPr lang="en-US" sz="1200" dirty="0"/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4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0D1B2A"/>
                          </a:solidFill>
                        </a:rPr>
                        <a:t>28.1%</a:t>
                      </a:r>
                      <a:endParaRPr lang="en-US" sz="1200" dirty="0"/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4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2-Symbol Block</a:t>
                      </a:r>
                      <a:endParaRPr lang="en-US" sz="1200" dirty="0"/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A89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226</a:t>
                      </a:r>
                      <a:endParaRPr lang="en-US" sz="1200" dirty="0"/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A89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1.43</a:t>
                      </a:r>
                      <a:endParaRPr lang="en-US" sz="1200" dirty="0"/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A89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30.2%</a:t>
                      </a:r>
                      <a:endParaRPr lang="en-US" sz="1200" dirty="0"/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A89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6" name="Shape 3"/>
          <p:cNvSpPr/>
          <p:nvPr/>
        </p:nvSpPr>
        <p:spPr>
          <a:xfrm>
            <a:off x="5577840" y="2834640"/>
            <a:ext cx="3200400" cy="1920240"/>
          </a:xfrm>
          <a:prstGeom prst="rect">
            <a:avLst/>
          </a:prstGeom>
          <a:solidFill>
            <a:srgbClr val="0D1B2A"/>
          </a:solidFill>
          <a:ln/>
          <a:effectLst>
            <a:outerShdw blurRad="762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8" name="Text 4"/>
          <p:cNvSpPr/>
          <p:nvPr/>
        </p:nvSpPr>
        <p:spPr>
          <a:xfrm>
            <a:off x="5760720" y="2926080"/>
            <a:ext cx="2834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0A89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Key Insights</a:t>
            </a:r>
            <a:endParaRPr lang="en-US" sz="1300" dirty="0"/>
          </a:p>
        </p:txBody>
      </p:sp>
      <p:sp>
        <p:nvSpPr>
          <p:cNvPr id="9" name="Text 5"/>
          <p:cNvSpPr/>
          <p:nvPr/>
        </p:nvSpPr>
        <p:spPr>
          <a:xfrm>
            <a:off x="5760720" y="3291840"/>
            <a:ext cx="283464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F0F4F8"/>
                </a:solidFill>
              </a:rPr>
              <a:t>Block encoding gains only +2.1% over single-symbol, while codebook grows 8×.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F0F4F8"/>
                </a:solidFill>
              </a:rPr>
              <a:t>Both methods significantly outperform fixed-length encoding.</a:t>
            </a:r>
            <a:endParaRPr lang="en-US" sz="11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0F4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256032" cy="658368"/>
          </a:xfrm>
          <a:prstGeom prst="rect">
            <a:avLst/>
          </a:prstGeom>
          <a:solidFill>
            <a:srgbClr val="00A896"/>
          </a:solidFill>
          <a:ln w="12700">
            <a:solidFill>
              <a:srgbClr val="00A896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0"/>
            <a:ext cx="8229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Performance Analysis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365760" y="822960"/>
            <a:ext cx="3931920" cy="2148840"/>
          </a:xfrm>
          <a:prstGeom prst="rect">
            <a:avLst/>
          </a:prstGeom>
          <a:solidFill>
            <a:srgbClr val="FFFFFF"/>
          </a:solidFill>
          <a:ln/>
          <a:effectLst>
            <a:outerShdw blurRad="762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365760" y="822960"/>
            <a:ext cx="73152" cy="2148840"/>
          </a:xfrm>
          <a:prstGeom prst="rect">
            <a:avLst/>
          </a:prstGeom>
          <a:solidFill>
            <a:srgbClr val="00A896"/>
          </a:solidFill>
          <a:ln w="12700">
            <a:solidFill>
              <a:srgbClr val="00A896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48640" y="914400"/>
            <a:ext cx="35661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D1B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Theoretical Entropy vs. Observed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548640" y="1298448"/>
            <a:ext cx="3566160" cy="1554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Shannon entropy H = −Σ p(x) log₂ p(x)</a:t>
            </a:r>
            <a:endParaRPr lang="en-US" sz="1200" dirty="0"/>
          </a:p>
          <a:p>
            <a:pPr marL="0" indent="0">
              <a:buNone/>
            </a:pPr>
            <a:r>
              <a:rPr lang="en-US" sz="600" dirty="0">
                <a:solidFill>
                  <a:srgbClr val="000000"/>
                </a:solidFill>
              </a:rPr>
              <a:t> 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0D1B2A"/>
                </a:solidFill>
              </a:rPr>
              <a:t>Theoretical minimum: ≈ 2.54 bits/symbol</a:t>
            </a:r>
            <a:endParaRPr lang="en-US" sz="1200" dirty="0"/>
          </a:p>
          <a:p>
            <a:pPr marL="0" indent="0">
              <a:buNone/>
            </a:pPr>
            <a:r>
              <a:rPr lang="en-US" sz="1200" b="1" dirty="0">
                <a:solidFill>
                  <a:srgbClr val="028090"/>
                </a:solidFill>
              </a:rPr>
              <a:t>Huffman achieved: ≈ 2.16 bits/symbol*</a:t>
            </a:r>
            <a:endParaRPr lang="en-US" sz="1200" dirty="0"/>
          </a:p>
          <a:p>
            <a:pPr marL="0" indent="0">
              <a:buNone/>
            </a:pPr>
            <a:r>
              <a:rPr lang="en-US" sz="1000" i="1" dirty="0">
                <a:solidFill>
                  <a:srgbClr val="64748B"/>
                </a:solidFill>
              </a:rPr>
              <a:t>*Reflects skewed distribution favouring the 1-bit code for 'h'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365760" y="3108960"/>
            <a:ext cx="3931920" cy="1691640"/>
          </a:xfrm>
          <a:prstGeom prst="rect">
            <a:avLst/>
          </a:prstGeom>
          <a:solidFill>
            <a:srgbClr val="0D1B2A"/>
          </a:solidFill>
          <a:ln/>
          <a:effectLst>
            <a:outerShdw blurRad="762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548640" y="3200400"/>
            <a:ext cx="35661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0A89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Algorithmic Complexity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548640" y="3566160"/>
            <a:ext cx="23774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0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Tree construction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2926080" y="3566160"/>
            <a:ext cx="11887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59E0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O(n log n)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548640" y="3840480"/>
            <a:ext cx="23774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0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Code generation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2926080" y="3840480"/>
            <a:ext cx="11887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59E0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O(n)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548640" y="4114800"/>
            <a:ext cx="23774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0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Encoding (M symbols)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2926080" y="4114800"/>
            <a:ext cx="11887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59E0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O(M)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548640" y="4389120"/>
            <a:ext cx="23774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0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Decoding (B bits)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2926080" y="4389120"/>
            <a:ext cx="11887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59E0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O(B · depth)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4572000" y="822960"/>
            <a:ext cx="4206240" cy="3931920"/>
          </a:xfrm>
          <a:prstGeom prst="rect">
            <a:avLst/>
          </a:prstGeom>
          <a:solidFill>
            <a:srgbClr val="FFFFFF"/>
          </a:solidFill>
          <a:ln/>
          <a:effectLst>
            <a:outerShdw blurRad="762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4572000" y="822960"/>
            <a:ext cx="73152" cy="393192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754880" y="914400"/>
            <a:ext cx="37490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D1B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Java Implementation Highlights</a:t>
            </a:r>
            <a:endParaRPr lang="en-US" sz="1300" dirty="0"/>
          </a:p>
        </p:txBody>
      </p:sp>
      <p:sp>
        <p:nvSpPr>
          <p:cNvPr id="22" name="Shape 20"/>
          <p:cNvSpPr/>
          <p:nvPr/>
        </p:nvSpPr>
        <p:spPr>
          <a:xfrm>
            <a:off x="4754880" y="1371600"/>
            <a:ext cx="3749040" cy="685800"/>
          </a:xfrm>
          <a:prstGeom prst="rect">
            <a:avLst/>
          </a:prstGeom>
          <a:solidFill>
            <a:srgbClr val="F8FAFC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4846320" y="1408176"/>
            <a:ext cx="35661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2809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PriorityQueue&lt;Node&gt;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4846320" y="1682496"/>
            <a:ext cx="35661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Min-heap for efficient extraction of the two lowest-frequency nodes during tree construction. O(log n) per operation.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4754880" y="2194560"/>
            <a:ext cx="3749040" cy="685800"/>
          </a:xfrm>
          <a:prstGeom prst="rect">
            <a:avLst/>
          </a:prstGeom>
          <a:solidFill>
            <a:srgbClr val="F8FAFC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4846320" y="2231136"/>
            <a:ext cx="35661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2809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HashMap&lt;String, String&gt;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4846320" y="2505456"/>
            <a:ext cx="35661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Stores symbol-to-code mappings for O(1) lookup during encoding.</a:t>
            </a:r>
            <a:endParaRPr lang="en-US" sz="1000" dirty="0"/>
          </a:p>
        </p:txBody>
      </p:sp>
      <p:sp>
        <p:nvSpPr>
          <p:cNvPr id="28" name="Shape 26"/>
          <p:cNvSpPr/>
          <p:nvPr/>
        </p:nvSpPr>
        <p:spPr>
          <a:xfrm>
            <a:off x="4754880" y="3017520"/>
            <a:ext cx="3749040" cy="685800"/>
          </a:xfrm>
          <a:prstGeom prst="rect">
            <a:avLst/>
          </a:prstGeom>
          <a:solidFill>
            <a:srgbClr val="F8FAFC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4846320" y="3054096"/>
            <a:ext cx="35661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2809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StringBuilder</a:t>
            </a:r>
            <a:endParaRPr lang="en-US" sz="1100" dirty="0"/>
          </a:p>
        </p:txBody>
      </p:sp>
      <p:sp>
        <p:nvSpPr>
          <p:cNvPr id="30" name="Text 28"/>
          <p:cNvSpPr/>
          <p:nvPr/>
        </p:nvSpPr>
        <p:spPr>
          <a:xfrm>
            <a:off x="4846320" y="3328416"/>
            <a:ext cx="35661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Efficient bitstring assembly during encoding; avoids costly string concatenation.</a:t>
            </a:r>
            <a:endParaRPr lang="en-US" sz="1000" dirty="0"/>
          </a:p>
        </p:txBody>
      </p:sp>
      <p:sp>
        <p:nvSpPr>
          <p:cNvPr id="31" name="Shape 29"/>
          <p:cNvSpPr/>
          <p:nvPr/>
        </p:nvSpPr>
        <p:spPr>
          <a:xfrm>
            <a:off x="4754880" y="3840480"/>
            <a:ext cx="3749040" cy="685800"/>
          </a:xfrm>
          <a:prstGeom prst="rect">
            <a:avLst/>
          </a:prstGeom>
          <a:solidFill>
            <a:srgbClr val="F8FAFC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4846320" y="3877056"/>
            <a:ext cx="35661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2809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Feature-Branch Git Workflow</a:t>
            </a:r>
            <a:endParaRPr lang="en-US" sz="1100" dirty="0"/>
          </a:p>
        </p:txBody>
      </p:sp>
      <p:sp>
        <p:nvSpPr>
          <p:cNvPr id="33" name="Text 31"/>
          <p:cNvSpPr/>
          <p:nvPr/>
        </p:nvSpPr>
        <p:spPr>
          <a:xfrm>
            <a:off x="4846320" y="4151376"/>
            <a:ext cx="35661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 feature branches across 2 students, merged into a shared dev branch for clean integration.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56032" cy="5143500"/>
          </a:xfrm>
          <a:prstGeom prst="rect">
            <a:avLst/>
          </a:prstGeom>
          <a:solidFill>
            <a:srgbClr val="00A896"/>
          </a:solidFill>
          <a:ln w="12700">
            <a:solidFill>
              <a:srgbClr val="00A896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411480"/>
            <a:ext cx="8229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Conclusion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502920" y="1051560"/>
            <a:ext cx="7772400" cy="0"/>
          </a:xfrm>
          <a:prstGeom prst="line">
            <a:avLst/>
          </a:prstGeom>
          <a:noFill/>
          <a:ln w="19050">
            <a:solidFill>
              <a:srgbClr val="00A896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02920" y="1280160"/>
            <a:ext cx="2651760" cy="3017520"/>
          </a:xfrm>
          <a:prstGeom prst="rect">
            <a:avLst/>
          </a:prstGeom>
          <a:solidFill>
            <a:srgbClr val="0D2233"/>
          </a:solidFill>
          <a:ln/>
          <a:effectLst>
            <a:outerShdw blurRad="127000" dist="38100" dir="8100000" algn="bl" rotWithShape="0">
              <a:srgbClr val="000000">
                <a:alpha val="2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502920" y="1280160"/>
            <a:ext cx="2651760" cy="73152"/>
          </a:xfrm>
          <a:prstGeom prst="rect">
            <a:avLst/>
          </a:prstGeom>
          <a:solidFill>
            <a:srgbClr val="00A896"/>
          </a:solidFill>
          <a:ln w="12700">
            <a:solidFill>
              <a:srgbClr val="00A896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40080" y="1444752"/>
            <a:ext cx="23774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0A89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Huffman Works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640080" y="1920240"/>
            <a:ext cx="2377440" cy="2103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0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Single-symbol encoding achieved 1.39 compression ratio (28.1% space saving) — near-optimal for this distribution.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3337560" y="1280160"/>
            <a:ext cx="2651760" cy="3017520"/>
          </a:xfrm>
          <a:prstGeom prst="rect">
            <a:avLst/>
          </a:prstGeom>
          <a:solidFill>
            <a:srgbClr val="0D2233"/>
          </a:solidFill>
          <a:ln/>
          <a:effectLst>
            <a:outerShdw blurRad="127000" dist="38100" dir="8100000" algn="bl" rotWithShape="0">
              <a:srgbClr val="000000">
                <a:alpha val="20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3337560" y="1280160"/>
            <a:ext cx="2651760" cy="73152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474720" y="1444752"/>
            <a:ext cx="23774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59E0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Block Encoding Improves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3474720" y="1920240"/>
            <a:ext cx="2377440" cy="2103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0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2-symbol block encoding reached 1.43 ratio (30.2% saving), a marginal but measurable gain over single-symbol.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6172200" y="1280160"/>
            <a:ext cx="2651760" cy="3017520"/>
          </a:xfrm>
          <a:prstGeom prst="rect">
            <a:avLst/>
          </a:prstGeom>
          <a:solidFill>
            <a:srgbClr val="0D2233"/>
          </a:solidFill>
          <a:ln/>
          <a:effectLst>
            <a:outerShdw blurRad="127000" dist="38100" dir="8100000" algn="bl" rotWithShape="0">
              <a:srgbClr val="000000">
                <a:alpha val="20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6172200" y="1280160"/>
            <a:ext cx="2651760" cy="73152"/>
          </a:xfrm>
          <a:prstGeom prst="rect">
            <a:avLst/>
          </a:prstGeom>
          <a:solidFill>
            <a:srgbClr val="E56C2F"/>
          </a:solidFill>
          <a:ln w="12700">
            <a:solidFill>
              <a:srgbClr val="E56C2F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309360" y="1444752"/>
            <a:ext cx="23774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E56C2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Tradeoffs Matter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6309360" y="1920240"/>
            <a:ext cx="2377440" cy="2103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0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Block encoding grows the codebook 8× for only +2.1% extra compression. For larger block sizes, diminishing returns increase rapidly.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502920" y="448056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Future Extensions: Adaptive Huffman coding  ·  Larger block sizes  ·  Arithmetic coding comparison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844</Words>
  <Application>Microsoft Office PowerPoint</Application>
  <PresentationFormat>On-screen Show (16:9)</PresentationFormat>
  <Paragraphs>183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3" baseType="lpstr">
      <vt:lpstr>Arial</vt:lpstr>
      <vt:lpstr>Calibri</vt:lpstr>
      <vt:lpstr>Cambria</vt:lpstr>
      <vt:lpstr>Consolas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Huffman Coding with Fibonacci Numbers</dc:title>
  <dc:subject>PptxGenJS Presentation</dc:subject>
  <dc:creator>PptxGenJS</dc:creator>
  <cp:lastModifiedBy>Branko Petrevski</cp:lastModifiedBy>
  <cp:revision>4</cp:revision>
  <dcterms:created xsi:type="dcterms:W3CDTF">2026-05-24T18:17:13Z</dcterms:created>
  <dcterms:modified xsi:type="dcterms:W3CDTF">2026-05-24T19:05:04Z</dcterms:modified>
</cp:coreProperties>
</file>